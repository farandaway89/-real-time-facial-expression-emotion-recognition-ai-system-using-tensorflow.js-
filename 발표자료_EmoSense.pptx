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625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45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실시간 얼굴 감정 인식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맑은 고딕"/>
              </a:rPr>
              <a:t>EmoSense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3E1FB"/>
                </a:solidFill>
                <a:latin typeface="맑은 고딕"/>
              </a:rPr>
              <a:t>표정 속 감정을, 데이터로 읽다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34840"/>
            <a:ext cx="8229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C7F5"/>
                </a:solidFill>
                <a:latin typeface="맑은 고딕"/>
              </a:rPr>
              <a:t>팀 얼리버드 (EarlyBird)  ·  이승필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623560"/>
            <a:ext cx="3291840" cy="914400"/>
          </a:xfrm>
          <a:prstGeom prst="roundRect">
            <a:avLst>
              <a:gd name="adj" fmla="val 15000"/>
            </a:avLst>
          </a:prstGeom>
          <a:solidFill>
            <a:srgbClr val="5B5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D8D6FA"/>
                </a:solidFill>
                <a:latin typeface="맑은 고딕"/>
              </a:rPr>
              <a:t>감정 분류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5623560"/>
            <a:ext cx="3291840" cy="914400"/>
          </a:xfrm>
          <a:prstGeom prst="roundRect">
            <a:avLst>
              <a:gd name="adj" fmla="val 15000"/>
            </a:avLst>
          </a:prstGeom>
          <a:solidFill>
            <a:srgbClr val="5B5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D8D6FA"/>
                </a:solidFill>
                <a:latin typeface="맑은 고딕"/>
              </a:rPr>
              <a:t>얼굴 랜드마크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5623560"/>
            <a:ext cx="3291840" cy="914400"/>
          </a:xfrm>
          <a:prstGeom prst="roundRect">
            <a:avLst>
              <a:gd name="adj" fmla="val 15000"/>
            </a:avLst>
          </a:prstGeom>
          <a:solidFill>
            <a:srgbClr val="5B5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D8D6FA"/>
                </a:solidFill>
                <a:latin typeface="맑은 고딕"/>
              </a:rPr>
              <a:t>서버 필요(클라이언트 전용)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맑은 고딕"/>
              </a:rPr>
              <a:t>문제 정의 &amp; 사용자 대상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0472" y="1143000"/>
            <a:ext cx="10058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9C"/>
                </a:solidFill>
                <a:latin typeface="맑은 고딕"/>
              </a:rPr>
              <a:t>EarlyBird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F46E5"/>
                </a:solidFill>
                <a:latin typeface="맑은 고딕"/>
              </a:rPr>
              <a:t>문제 상황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1206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63500" cy="1417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맑은 고딕"/>
              </a:rPr>
              <a:t>감정의 주관적 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75163"/>
                </a:solidFill>
                <a:latin typeface="맑은 고딕"/>
              </a:rPr>
              <a:t>감정 상태는 본인도 객관적으로 인지하기 어렵고 정량화가 힘듦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1206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63500" cy="1417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맑은 고딕"/>
              </a:rPr>
              <a:t>정성적 관찰 의존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75163"/>
                </a:solidFill>
                <a:latin typeface="맑은 고딕"/>
              </a:rPr>
              <a:t>상담·진단 과정에서 감정 변화를 기록할 객관적 도구 부재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B8A6"/>
                </a:solidFill>
                <a:latin typeface="맑은 고딕"/>
              </a:rPr>
              <a:t>사용자 대상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920240"/>
            <a:ext cx="54864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06654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4480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827"/>
                </a:solidFill>
                <a:latin typeface="맑은 고딕"/>
              </a:rPr>
              <a:t>심리상담사 · 임상 연구자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788920"/>
            <a:ext cx="54864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29352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788920"/>
            <a:ext cx="4480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827"/>
                </a:solidFill>
                <a:latin typeface="맑은 고딕"/>
              </a:rPr>
              <a:t>자기 모니터링 희망 사용자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657600"/>
            <a:ext cx="54864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380390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657600"/>
            <a:ext cx="4480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1827"/>
                </a:solidFill>
                <a:latin typeface="맑은 고딕"/>
              </a:rPr>
              <a:t>AI/감정인식 기술 학습자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핵심 문제 : 감정 변화를 '실시간·정량적으로' 기록할 방법이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맑은 고딕"/>
              </a:rPr>
              <a:t>해결 아이디어 / 핵심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0472" y="1143000"/>
            <a:ext cx="10058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9C"/>
                </a:solidFill>
                <a:latin typeface="맑은 고딕"/>
              </a:rPr>
              <a:t>EarlyBird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578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25780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892808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맑은 고딕"/>
              </a:rPr>
              <a:t>실시간 얼굴 감지·감정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4709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75163"/>
                </a:solidFill>
                <a:latin typeface="맑은 고딕"/>
              </a:rPr>
              <a:t>웹캠 기반으로 7가지 감정(기쁨·슬픔·분노·공포·놀람·혐오·무표정) 실시간 분류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2578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525780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892808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맑은 고딕"/>
              </a:rPr>
              <a:t>감정 변화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51760"/>
            <a:ext cx="4709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75163"/>
                </a:solidFill>
                <a:latin typeface="맑은 고딕"/>
              </a:rPr>
              <a:t>시간대별 감정 변화를 Chart.js로 시각화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52578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11480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07408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맑은 고딕"/>
              </a:rPr>
              <a:t>통계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4709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75163"/>
                </a:solidFill>
                <a:latin typeface="맑은 고딕"/>
              </a:rPr>
              <a:t>분석시간, 주요감정, 변화횟수, 평균 신뢰도 자동 산출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14800"/>
            <a:ext cx="525780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114800"/>
            <a:ext cx="525780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60" y="44348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434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407408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1827"/>
                </a:solidFill>
                <a:latin typeface="맑은 고딕"/>
              </a:rPr>
              <a:t>리포트 생성·내보내기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166360"/>
            <a:ext cx="4709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75163"/>
                </a:solidFill>
                <a:latin typeface="맑은 고딕"/>
              </a:rPr>
              <a:t>PDF 임상 리포트 자동 생성, JSON/CSV 내보내기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맑은 고딕"/>
              </a:rPr>
              <a:t>서비스 흐름 / 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0472" y="1143000"/>
            <a:ext cx="10058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9C"/>
                </a:solidFill>
                <a:latin typeface="맑은 고딕"/>
              </a:rPr>
              <a:t>EarlyBird</a:t>
            </a:r>
          </a:p>
        </p:txBody>
      </p:sp>
      <p:sp>
        <p:nvSpPr>
          <p:cNvPr id="8" name="Oval 7"/>
          <p:cNvSpPr/>
          <p:nvPr/>
        </p:nvSpPr>
        <p:spPr>
          <a:xfrm>
            <a:off x="1211580" y="1673352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1580" y="16733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1691640" cy="13258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웹캠</a:t>
            </a:r>
            <a:br/>
            <a:r>
              <a:rPr sz="1050" b="1">
                <a:solidFill>
                  <a:srgbClr val="FFFFFF"/>
                </a:solidFill>
                <a:latin typeface="맑은 고딕"/>
              </a:rPr>
              <a:t>스트림</a:t>
            </a:r>
          </a:p>
        </p:txBody>
      </p:sp>
      <p:sp>
        <p:nvSpPr>
          <p:cNvPr id="11" name="Chevron 10"/>
          <p:cNvSpPr/>
          <p:nvPr/>
        </p:nvSpPr>
        <p:spPr>
          <a:xfrm>
            <a:off x="2212848" y="2532888"/>
            <a:ext cx="219456" cy="365760"/>
          </a:xfrm>
          <a:prstGeom prst="chevron">
            <a:avLst/>
          </a:prstGeom>
          <a:solidFill>
            <a:srgbClr val="D2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59252" y="1673352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9252" y="16733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0592" y="2057400"/>
            <a:ext cx="1691640" cy="1325880"/>
          </a:xfrm>
          <a:prstGeom prst="roundRect">
            <a:avLst>
              <a:gd name="adj" fmla="val 2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TinyFaceDetector</a:t>
            </a:r>
            <a:br/>
            <a:r>
              <a:rPr sz="1050" b="1">
                <a:solidFill>
                  <a:srgbClr val="FFFFFF"/>
                </a:solidFill>
                <a:latin typeface="맑은 고딕"/>
              </a:rPr>
              <a:t>(얼굴감지)</a:t>
            </a:r>
          </a:p>
        </p:txBody>
      </p:sp>
      <p:sp>
        <p:nvSpPr>
          <p:cNvPr id="15" name="Chevron 14"/>
          <p:cNvSpPr/>
          <p:nvPr/>
        </p:nvSpPr>
        <p:spPr>
          <a:xfrm>
            <a:off x="4160520" y="2532888"/>
            <a:ext cx="219456" cy="365760"/>
          </a:xfrm>
          <a:prstGeom prst="chevron">
            <a:avLst/>
          </a:prstGeom>
          <a:solidFill>
            <a:srgbClr val="D2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06924" y="1673352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6924" y="16733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057400"/>
            <a:ext cx="1691640" cy="13258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FaceLandmark68Net</a:t>
            </a:r>
            <a:br/>
            <a:r>
              <a:rPr sz="1050" b="1">
                <a:solidFill>
                  <a:srgbClr val="FFFFFF"/>
                </a:solidFill>
                <a:latin typeface="맑은 고딕"/>
              </a:rPr>
              <a:t>(68 랜드마크)</a:t>
            </a:r>
          </a:p>
        </p:txBody>
      </p:sp>
      <p:sp>
        <p:nvSpPr>
          <p:cNvPr id="19" name="Chevron 18"/>
          <p:cNvSpPr/>
          <p:nvPr/>
        </p:nvSpPr>
        <p:spPr>
          <a:xfrm>
            <a:off x="6108192" y="2532888"/>
            <a:ext cx="219456" cy="365760"/>
          </a:xfrm>
          <a:prstGeom prst="chevron">
            <a:avLst/>
          </a:prstGeom>
          <a:solidFill>
            <a:srgbClr val="D2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54596" y="1673352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4596" y="16733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057400"/>
            <a:ext cx="1691640" cy="1325880"/>
          </a:xfrm>
          <a:prstGeom prst="roundRect">
            <a:avLst>
              <a:gd name="adj" fmla="val 2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FaceExpressionNet</a:t>
            </a:r>
            <a:br/>
            <a:r>
              <a:rPr sz="1050" b="1">
                <a:solidFill>
                  <a:srgbClr val="FFFFFF"/>
                </a:solidFill>
                <a:latin typeface="맑은 고딕"/>
              </a:rPr>
              <a:t>(감정분류)</a:t>
            </a:r>
          </a:p>
        </p:txBody>
      </p:sp>
      <p:sp>
        <p:nvSpPr>
          <p:cNvPr id="23" name="Chevron 22"/>
          <p:cNvSpPr/>
          <p:nvPr/>
        </p:nvSpPr>
        <p:spPr>
          <a:xfrm>
            <a:off x="8055864" y="2532888"/>
            <a:ext cx="219456" cy="365760"/>
          </a:xfrm>
          <a:prstGeom prst="chevron">
            <a:avLst/>
          </a:prstGeom>
          <a:solidFill>
            <a:srgbClr val="D2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2268" y="167335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2268" y="16733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3608" y="2057400"/>
            <a:ext cx="1691640" cy="132588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실시간 표시</a:t>
            </a:r>
            <a:br/>
            <a:r>
              <a:rPr sz="1050" b="1">
                <a:solidFill>
                  <a:srgbClr val="FFFFFF"/>
                </a:solidFill>
                <a:latin typeface="맑은 고딕"/>
              </a:rPr>
              <a:t>+ 차트 추적</a:t>
            </a:r>
          </a:p>
        </p:txBody>
      </p:sp>
      <p:sp>
        <p:nvSpPr>
          <p:cNvPr id="27" name="Chevron 26"/>
          <p:cNvSpPr/>
          <p:nvPr/>
        </p:nvSpPr>
        <p:spPr>
          <a:xfrm>
            <a:off x="10003536" y="2532888"/>
            <a:ext cx="219456" cy="365760"/>
          </a:xfrm>
          <a:prstGeom prst="chevron">
            <a:avLst/>
          </a:prstGeom>
          <a:solidFill>
            <a:srgbClr val="D2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49940" y="1673352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49940" y="167335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057400"/>
            <a:ext cx="1691640" cy="13258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PDF/CSV</a:t>
            </a:r>
            <a:br/>
            <a:r>
              <a:rPr sz="1050" b="1">
                <a:solidFill>
                  <a:srgbClr val="FFFFFF"/>
                </a:solidFill>
                <a:latin typeface="맑은 고딕"/>
              </a:rPr>
              <a:t>리포트 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840480"/>
            <a:ext cx="10881360" cy="1280160"/>
          </a:xfrm>
          <a:prstGeom prst="roundRect">
            <a:avLst>
              <a:gd name="adj" fmla="val 12000"/>
            </a:avLst>
          </a:prstGeom>
          <a:solidFill>
            <a:srgbClr val="F0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전 과정이 브라우저(클라이언트)에서만 실행되어 별도 서버·DB 없이 즉시 구동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맑은 고딕"/>
              </a:rPr>
              <a:t>AI 활용 포인트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0472" y="1143000"/>
            <a:ext cx="10058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9C"/>
                </a:solidFill>
                <a:latin typeface="맑은 고딕"/>
              </a:rPr>
              <a:t>EarlyBird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620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016252"/>
            <a:ext cx="585216" cy="58521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6252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187452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11827"/>
                </a:solidFill>
                <a:latin typeface="맑은 고딕"/>
              </a:rPr>
              <a:t>브라우저 내 실시간 추론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231343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163"/>
                </a:solidFill>
                <a:latin typeface="맑은 고딕"/>
              </a:rPr>
              <a:t>TensorFlow.js 사전학습 모델(face-api.js)을 클라이언트에서 직접 구동한다. 서버로 영상을 전송하지 않고 브라우저 안에서 바로 추론하기 때문에 지연이 적고, 개인정보(얼굴 영상)가 외부로 전송되지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108813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76200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70732"/>
            <a:ext cx="585216" cy="5852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70732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42900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11827"/>
                </a:solidFill>
                <a:latin typeface="맑은 고딕"/>
              </a:rPr>
              <a:t>68점 랜드마크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386791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163"/>
                </a:solidFill>
                <a:latin typeface="맑은 고딕"/>
              </a:rPr>
              <a:t>TinyFaceDetector로 얼굴을 감지한 뒤, FaceLandmark68Net으로 눈·코·입 등 68개 지점을 정밀하게 추출해 표정의 미세한 변화까지 특징으로 잡아낸다.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7620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5125212"/>
            <a:ext cx="585216" cy="5852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25212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98348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11827"/>
                </a:solidFill>
                <a:latin typeface="맑은 고딕"/>
              </a:rPr>
              <a:t>신뢰도 점수 산출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542239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163"/>
                </a:solidFill>
                <a:latin typeface="맑은 고딕"/>
              </a:rPr>
              <a:t>FaceExpressionNet이 7가지 감정 분류 결과마다 확신도(confidence)를 함께 제공해, 단순 라벨링이 아니라 판단 근거를 수치로 확인할 수 있게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맑은 고딕"/>
              </a:rPr>
              <a:t>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0472" y="1143000"/>
            <a:ext cx="10058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9C"/>
                </a:solidFill>
                <a:latin typeface="맑은 고딕"/>
              </a:rPr>
              <a:t>EarlyBird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993392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1993392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1016" y="192024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맑은 고딕"/>
              </a:rPr>
              <a:t>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612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4F46E5"/>
                </a:solidFill>
                <a:latin typeface="맑은 고딕"/>
              </a:rPr>
              <a:t>TensorFlow.js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4F46E5"/>
                </a:solidFill>
                <a:latin typeface="맑은 고딕"/>
              </a:rPr>
              <a:t>face-api.js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08176" y="3995928"/>
            <a:ext cx="457200" cy="25400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75163"/>
                </a:solidFill>
                <a:latin typeface="맑은 고딕"/>
              </a:rPr>
              <a:t>사전학습된 얼굴인식 모델을 브라우저에서 바로 구동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2072" y="1600200"/>
            <a:ext cx="1993392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62072" y="1600200"/>
            <a:ext cx="1993392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3008" y="192024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2" y="283464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맑은 고딕"/>
              </a:rPr>
              <a:t>시각화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24612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4B8A6"/>
                </a:solidFill>
                <a:latin typeface="맑은 고딕"/>
              </a:rPr>
              <a:t>Chart.js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0168" y="3995928"/>
            <a:ext cx="457200" cy="25400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416052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75163"/>
                </a:solidFill>
                <a:latin typeface="맑은 고딕"/>
              </a:rPr>
              <a:t>시간대별 감정 변화 추이를 실시간 그래프로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1600200"/>
            <a:ext cx="1993392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600200"/>
            <a:ext cx="1993392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15000" y="19202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4064" y="283464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맑은 고딕"/>
              </a:rPr>
              <a:t>리포트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24612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59E0B"/>
                </a:solidFill>
                <a:latin typeface="맑은 고딕"/>
              </a:rPr>
              <a:t>jsPDF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995928"/>
            <a:ext cx="457200" cy="25400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1224" y="416052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75163"/>
                </a:solidFill>
                <a:latin typeface="맑은 고딕"/>
              </a:rPr>
              <a:t>분석 결과를 임상 리포트 형태의 PDF로 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06056" y="1600200"/>
            <a:ext cx="1993392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6056" y="1600200"/>
            <a:ext cx="1993392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36992" y="192024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6056" y="283464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맑은 고딕"/>
              </a:rPr>
              <a:t>프론트엔드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4" y="324612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4F46E5"/>
                </a:solidFill>
                <a:latin typeface="맑은 고딕"/>
              </a:rPr>
              <a:t>HTML5 · CSS3</a:t>
            </a:r>
          </a:p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4F46E5"/>
                </a:solidFill>
                <a:latin typeface="맑은 고딕"/>
              </a:rPr>
              <a:t>Vanilla 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3995928"/>
            <a:ext cx="457200" cy="25400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6" y="416052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75163"/>
                </a:solidFill>
                <a:latin typeface="맑은 고딕"/>
              </a:rPr>
              <a:t>프레임워크 의존 없이 가볍고 빠르게 동작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1600200"/>
            <a:ext cx="1993392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28048" y="1600200"/>
            <a:ext cx="1993392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58984" y="192024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8048" y="2834640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맑은 고딕"/>
              </a:rPr>
              <a:t>배포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324612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4B8A6"/>
                </a:solidFill>
                <a:latin typeface="맑은 고딕"/>
              </a:rPr>
              <a:t>Vercel / Netlify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96144" y="3995928"/>
            <a:ext cx="457200" cy="25400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65208" y="4160520"/>
            <a:ext cx="1719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475163"/>
                </a:solidFill>
                <a:latin typeface="맑은 고딕"/>
              </a:rPr>
              <a:t>정적 호스팅만으로 즉시 배포 가능한 구조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15000"/>
            </a:avLst>
          </a:prstGeom>
          <a:solidFill>
            <a:srgbClr val="F0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163"/>
                </a:solidFill>
                <a:latin typeface="맑은 고딕"/>
              </a:rPr>
              <a:t>각 계층을 독립적으로 교체·확장할 수 있는 구조로 설계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303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맑은 고딕"/>
              </a:rPr>
              <a:t>기대효과 /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0472" y="1143000"/>
            <a:ext cx="10058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909C"/>
                </a:solidFill>
                <a:latin typeface="맑은 고딕"/>
              </a:rPr>
              <a:t>EarlyBird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881360" cy="96012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기대효과 : 상담·자기모니터링에서 감정 변화를 객관적 데이터로 기록, 진단·상담 효율성 향상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향후 계획 로드맵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3502152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3502152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3502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단기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953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모바일 환경 대응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UI 최적화</a:t>
            </a:r>
          </a:p>
        </p:txBody>
      </p:sp>
      <p:sp>
        <p:nvSpPr>
          <p:cNvPr id="15" name="Chevron 14"/>
          <p:cNvSpPr/>
          <p:nvPr/>
        </p:nvSpPr>
        <p:spPr>
          <a:xfrm>
            <a:off x="4160520" y="4503420"/>
            <a:ext cx="146304" cy="365760"/>
          </a:xfrm>
          <a:prstGeom prst="chevron">
            <a:avLst/>
          </a:prstGeom>
          <a:solidFill>
            <a:srgbClr val="C9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25112" y="3246120"/>
            <a:ext cx="3502152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3246120"/>
            <a:ext cx="350215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3246120"/>
            <a:ext cx="3502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중기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160520"/>
            <a:ext cx="2953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다국어 리포트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지원</a:t>
            </a:r>
          </a:p>
        </p:txBody>
      </p:sp>
      <p:sp>
        <p:nvSpPr>
          <p:cNvPr id="20" name="Chevron 19"/>
          <p:cNvSpPr/>
          <p:nvPr/>
        </p:nvSpPr>
        <p:spPr>
          <a:xfrm>
            <a:off x="7845552" y="4503420"/>
            <a:ext cx="146304" cy="365760"/>
          </a:xfrm>
          <a:prstGeom prst="chevron">
            <a:avLst/>
          </a:prstGeom>
          <a:solidFill>
            <a:srgbClr val="C9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10144" y="3246120"/>
            <a:ext cx="3502152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3246120"/>
            <a:ext cx="3502152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3246120"/>
            <a:ext cx="3502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장기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160520"/>
            <a:ext cx="29535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장기 감정 트렌드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75163"/>
                </a:solidFill>
                <a:latin typeface="맑은 고딕"/>
              </a:rPr>
              <a:t>분석 기능 추가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625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474720"/>
            <a:ext cx="5943600" cy="5943600"/>
          </a:xfrm>
          <a:prstGeom prst="ellipse">
            <a:avLst/>
          </a:prstGeom>
          <a:solidFill>
            <a:srgbClr val="45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234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9C7F5"/>
                </a:solidFill>
                <a:latin typeface="맑은 고딕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822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9C7F5"/>
                </a:solidFill>
                <a:latin typeface="맑은 고딕"/>
              </a:rPr>
              <a:t>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74519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 b="1">
                <a:solidFill>
                  <a:srgbClr val="FFFFFF"/>
                </a:solidFill>
                <a:latin typeface="맑은 고딕"/>
              </a:rPr>
              <a:t>얼리버드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7889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4B8A6"/>
                </a:solidFill>
                <a:latin typeface="맑은 고딕"/>
              </a:rPr>
              <a:t>EarlyBird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6727" y="3749039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5B5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6727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6FA"/>
                </a:solidFill>
                <a:latin typeface="맑은 고딕"/>
              </a:rPr>
              <a:t>기획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6727" y="43891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이승필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4247" y="3749039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5B5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247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6FA"/>
                </a:solidFill>
                <a:latin typeface="맑은 고딕"/>
              </a:rPr>
              <a:t>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43891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이승필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1767" y="3749039"/>
            <a:ext cx="2743200" cy="1463040"/>
          </a:xfrm>
          <a:prstGeom prst="roundRect">
            <a:avLst>
              <a:gd name="adj" fmla="val 15000"/>
            </a:avLst>
          </a:prstGeom>
          <a:solidFill>
            <a:srgbClr val="5B5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1767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8D6FA"/>
                </a:solidFill>
                <a:latin typeface="맑은 고딕"/>
              </a:rPr>
              <a:t>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1767" y="43891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이승필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9B7EF"/>
                </a:solidFill>
                <a:latin typeface="맑은 고딕"/>
              </a:rPr>
              <a:t>1인 팀 — 기획 · 개발 · 배포 전 과정 담당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